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xTaJvTXA/ptDkl7kCDG+yej/G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1e7708c67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21e7708c67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1e7708c6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21e7708c6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1e7708c67_4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21e7708c67_4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1e7708c67_4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21e7708c67_4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20bcfbc97_1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220bcfbc97_1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d5b2b5e3c8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2d5b2b5e3c8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1fd835375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11fd835375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11fd835375_0_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1fd835375_0_8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11fd835375_0_8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11fd835375_0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11fd835375_0_9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11fd835375_0_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1fd835375_0_9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11fd835375_0_9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11fd835375_0_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11fd835375_0_1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11fd835375_0_10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11fd835375_0_10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11fd835375_0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11fd835375_0_1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11fd835375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1fd835375_0_10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11fd835375_0_10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11fd835375_0_1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11fd835375_0_11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11fd835375_0_1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1fd835375_0_1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11fd835375_0_1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11fd835375_0_1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11fd835375_0_1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11fd835375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1fd835375_0_12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11fd835375_0_1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1fd835375_0_12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11fd835375_0_12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11fd835375_0_1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1fd835375_0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1fd835375_0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g311fd835375_0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7" name="Google Shape;57;g311fd835375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11fd835375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11fd835375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1fd835375_0_5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1fd835375_0_5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11fd835375_0_5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11fd835375_0_5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11fd835375_0_5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1fd835375_0_5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11fd835375_0_5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11fd835375_0_5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1fd835375_0_55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11fd835375_0_55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9" name="Google Shape;79;g311fd835375_0_5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11fd835375_0_5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11fd835375_0_5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1fd835375_0_56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11fd835375_0_56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5" name="Google Shape;85;g311fd835375_0_5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11fd835375_0_5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11fd835375_0_5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fd835375_0_5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11fd835375_0_56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11fd835375_0_56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11fd835375_0_5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11fd835375_0_5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11fd835375_0_5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1fd835375_0_57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11fd835375_0_57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g311fd835375_0_57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11fd835375_0_57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g311fd835375_0_57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g311fd835375_0_5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11fd835375_0_5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11fd835375_0_5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1fd835375_0_5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11fd835375_0_5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11fd835375_0_5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11fd835375_0_5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1fd835375_0_59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11fd835375_0_594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g311fd835375_0_594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g311fd835375_0_59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11fd835375_0_59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11fd835375_0_59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fd835375_0_60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11fd835375_0_60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11fd835375_0_60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g311fd835375_0_6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11fd835375_0_6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11fd835375_0_6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1fd835375_0_6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11fd835375_0_608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11fd835375_0_6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11fd835375_0_6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11fd835375_0_6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1fd835375_0_61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11fd835375_0_61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g311fd835375_0_6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11fd835375_0_6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11fd835375_0_6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1fd835375_0_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11fd835375_0_8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11fd835375_0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fd835375_0_5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11fd835375_0_5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11fd835375_0_5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11fd835375_0_5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11fd835375_0_5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1e7708c67_1_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1e7708c67_1_83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21e7708c67_1_83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21e7708c67_1_83"/>
          <p:cNvSpPr txBox="1"/>
          <p:nvPr>
            <p:ph type="ctrTitle"/>
          </p:nvPr>
        </p:nvSpPr>
        <p:spPr>
          <a:xfrm>
            <a:off x="477981" y="1122363"/>
            <a:ext cx="4023300" cy="32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Introduction to AI and Data Science</a:t>
            </a:r>
            <a:endParaRPr/>
          </a:p>
        </p:txBody>
      </p:sp>
      <p:sp>
        <p:nvSpPr>
          <p:cNvPr id="143" name="Google Shape;143;g321e7708c67_1_83"/>
          <p:cNvSpPr/>
          <p:nvPr/>
        </p:nvSpPr>
        <p:spPr>
          <a:xfrm>
            <a:off x="481029" y="4546920"/>
            <a:ext cx="40233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21e7708c67_1_83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21e7708c67_1_83"/>
          <p:cNvSpPr txBox="1"/>
          <p:nvPr/>
        </p:nvSpPr>
        <p:spPr>
          <a:xfrm>
            <a:off x="380333" y="5155533"/>
            <a:ext cx="207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-US" sz="5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21e7708c67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7" name="Google Shape;147;g321e7708c67_1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332" y="4687900"/>
            <a:ext cx="1461966" cy="14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21e7708c67_1_83"/>
          <p:cNvSpPr/>
          <p:nvPr/>
        </p:nvSpPr>
        <p:spPr>
          <a:xfrm>
            <a:off x="5390033" y="0"/>
            <a:ext cx="72333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21e7708c67_1_83"/>
          <p:cNvSpPr/>
          <p:nvPr/>
        </p:nvSpPr>
        <p:spPr>
          <a:xfrm rot="10800000">
            <a:off x="4059000" y="0"/>
            <a:ext cx="3346600" cy="6858000"/>
          </a:xfrm>
          <a:prstGeom prst="flowChartOnlineStorag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21e7708c67_1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767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1e7708c67_1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1e7708c67_1_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Introduction to AI and Data Science</a:t>
            </a:r>
            <a:endParaRPr sz="3600"/>
          </a:p>
        </p:txBody>
      </p:sp>
      <p:sp>
        <p:nvSpPr>
          <p:cNvPr id="157" name="Google Shape;157;g321e7708c67_1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21e7708c67_1_0"/>
          <p:cNvSpPr txBox="1"/>
          <p:nvPr>
            <p:ph idx="1" type="body"/>
          </p:nvPr>
        </p:nvSpPr>
        <p:spPr>
          <a:xfrm>
            <a:off x="572500" y="2016050"/>
            <a:ext cx="51435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17"/>
              <a:t>What is Data Science:</a:t>
            </a:r>
            <a:endParaRPr b="1" sz="191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Data Science is the field that uses statistical and computational techniques to analyze data and derive insights or predictions.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What is Artificial Intelligence: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Artificial Intelligence (AI) is the simulation of human intelligence by machines.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enabling them to perform tasks like learning, reasoning, and problem-solving.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What is Machine Learning: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Machine Learning is a subset of AI that enables systems to learn from data and improve their performance on tasks without being explicitly programmed.</a:t>
            </a:r>
            <a:endParaRPr sz="1600"/>
          </a:p>
        </p:txBody>
      </p:sp>
      <p:pic>
        <p:nvPicPr>
          <p:cNvPr id="159" name="Google Shape;159;g321e7708c67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21e7708c67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6028" y="2015925"/>
            <a:ext cx="5829272" cy="41746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1e7708c67_4_1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21e7708c67_4_1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Components of Data Science</a:t>
            </a:r>
            <a:endParaRPr sz="3600"/>
          </a:p>
        </p:txBody>
      </p:sp>
      <p:sp>
        <p:nvSpPr>
          <p:cNvPr id="167" name="Google Shape;167;g321e7708c67_4_1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21e7708c67_4_10"/>
          <p:cNvSpPr txBox="1"/>
          <p:nvPr>
            <p:ph idx="1" type="body"/>
          </p:nvPr>
        </p:nvSpPr>
        <p:spPr>
          <a:xfrm>
            <a:off x="572500" y="2016050"/>
            <a:ext cx="61686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Data Collection: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Gathering data from various sources like databases, sensors, web scraping, APIs, or surveys.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Data Processing and Cleaning: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16"/>
              <a:t>Ensuring data quality by handling missing values, outliers, and inconsistencies. </a:t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16"/>
              <a:t>Techniques include: </a:t>
            </a:r>
            <a:endParaRPr sz="1616"/>
          </a:p>
          <a:p>
            <a:pPr indent="-3312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6"/>
              <a:buChar char="●"/>
            </a:pPr>
            <a:r>
              <a:rPr lang="en-US" sz="1616"/>
              <a:t>normalization</a:t>
            </a:r>
            <a:endParaRPr sz="1616"/>
          </a:p>
          <a:p>
            <a:pPr indent="-3312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6"/>
              <a:buChar char="●"/>
            </a:pPr>
            <a:r>
              <a:rPr lang="en-US" sz="1616"/>
              <a:t>standardization</a:t>
            </a:r>
            <a:endParaRPr sz="1616"/>
          </a:p>
          <a:p>
            <a:pPr indent="-3312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6"/>
              <a:buChar char="●"/>
            </a:pPr>
            <a:r>
              <a:rPr lang="en-US" sz="1616"/>
              <a:t>imputation.</a:t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900"/>
              <a:t>Exploratory Data analysis: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Using statistical and visualization tools (e.g., histograms, scatter plots) to uncover patterns, correlations, and trends in the data.</a:t>
            </a:r>
            <a:endParaRPr sz="1600"/>
          </a:p>
        </p:txBody>
      </p:sp>
      <p:pic>
        <p:nvPicPr>
          <p:cNvPr id="169" name="Google Shape;169;g321e7708c67_4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21e7708c67_4_10"/>
          <p:cNvPicPr preferRelativeResize="0"/>
          <p:nvPr/>
        </p:nvPicPr>
        <p:blipFill rotWithShape="1">
          <a:blip r:embed="rId4">
            <a:alphaModFix/>
          </a:blip>
          <a:srcRect b="0" l="8054" r="0" t="0"/>
          <a:stretch/>
        </p:blipFill>
        <p:spPr>
          <a:xfrm>
            <a:off x="6851184" y="2149000"/>
            <a:ext cx="4739715" cy="39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1e7708c67_4_34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21e7708c67_4_34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cont.</a:t>
            </a:r>
            <a:endParaRPr sz="3600"/>
          </a:p>
        </p:txBody>
      </p:sp>
      <p:sp>
        <p:nvSpPr>
          <p:cNvPr id="177" name="Google Shape;177;g321e7708c67_4_34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21e7708c67_4_34"/>
          <p:cNvSpPr txBox="1"/>
          <p:nvPr>
            <p:ph idx="1" type="body"/>
          </p:nvPr>
        </p:nvSpPr>
        <p:spPr>
          <a:xfrm>
            <a:off x="572500" y="2016050"/>
            <a:ext cx="53136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900"/>
              <a:t>Modeling: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-US" sz="1616"/>
              <a:t>Using algorithms (e.g., regression, decision trees, neural networks) to create models that predict outcomes or classify data.</a:t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61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-US" sz="1900"/>
              <a:t>Interpretation: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-US" sz="1600"/>
              <a:t>Presenting insights through dashboards, graphs, and charts using tools like Matplotlib, Seaborn, Tableau, or Power BI.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-US" sz="1900"/>
              <a:t>Deployment: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Implementing models in real-world applications (e.g., recommendation systems, fraud detection).</a:t>
            </a:r>
            <a:endParaRPr b="1" sz="1900"/>
          </a:p>
        </p:txBody>
      </p:sp>
      <p:pic>
        <p:nvPicPr>
          <p:cNvPr id="179" name="Google Shape;179;g321e7708c67_4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21e7708c67_4_34"/>
          <p:cNvPicPr preferRelativeResize="0"/>
          <p:nvPr/>
        </p:nvPicPr>
        <p:blipFill rotWithShape="1">
          <a:blip r:embed="rId4">
            <a:alphaModFix/>
          </a:blip>
          <a:srcRect b="0" l="8054" r="0" t="0"/>
          <a:stretch/>
        </p:blipFill>
        <p:spPr>
          <a:xfrm>
            <a:off x="6528751" y="2083425"/>
            <a:ext cx="5062150" cy="41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20bcfbc97_1_12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20bcfbc97_1_12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Machine Learning</a:t>
            </a:r>
            <a:endParaRPr sz="3600"/>
          </a:p>
        </p:txBody>
      </p:sp>
      <p:sp>
        <p:nvSpPr>
          <p:cNvPr id="187" name="Google Shape;187;g3220bcfbc97_1_12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220bcfbc97_1_120"/>
          <p:cNvSpPr txBox="1"/>
          <p:nvPr>
            <p:ph idx="1" type="body"/>
          </p:nvPr>
        </p:nvSpPr>
        <p:spPr>
          <a:xfrm>
            <a:off x="572500" y="2016050"/>
            <a:ext cx="49491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600"/>
              <a:t>focuses on developing algorithms and models that allow computers to learn from and make predictions or decisions based on data.</a:t>
            </a:r>
            <a:endParaRPr b="1" sz="19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model</a:t>
            </a:r>
            <a:r>
              <a:rPr lang="en-US" sz="1600"/>
              <a:t> - a mathematical function for describing the relationship between input and outputs for making predictions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algorithm</a:t>
            </a:r>
            <a:r>
              <a:rPr lang="en-US" sz="1600"/>
              <a:t> - a procedure or set of decision rules used to carry out a task or prediction</a:t>
            </a:r>
            <a:endParaRPr sz="1600"/>
          </a:p>
        </p:txBody>
      </p:sp>
      <p:pic>
        <p:nvPicPr>
          <p:cNvPr id="189" name="Google Shape;189;g3220bcfbc97_1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220bcfbc97_1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1600" y="2015925"/>
            <a:ext cx="6023700" cy="3889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5b2b5e3c8_0_148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d5b2b5e3c8_0_148"/>
          <p:cNvSpPr txBox="1"/>
          <p:nvPr>
            <p:ph idx="4294967295" type="title"/>
          </p:nvPr>
        </p:nvSpPr>
        <p:spPr>
          <a:xfrm>
            <a:off x="4024800" y="2567800"/>
            <a:ext cx="41424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Q&amp;A Session</a:t>
            </a:r>
            <a:endParaRPr/>
          </a:p>
        </p:txBody>
      </p:sp>
      <p:pic>
        <p:nvPicPr>
          <p:cNvPr id="197" name="Google Shape;197;g2d5b2b5e3c8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1fd835375_0_4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1fd835375_0_498"/>
          <p:cNvSpPr/>
          <p:nvPr/>
        </p:nvSpPr>
        <p:spPr>
          <a:xfrm>
            <a:off x="0" y="0"/>
            <a:ext cx="4040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11fd835375_0_498"/>
          <p:cNvSpPr txBox="1"/>
          <p:nvPr>
            <p:ph type="title"/>
          </p:nvPr>
        </p:nvSpPr>
        <p:spPr>
          <a:xfrm>
            <a:off x="420150" y="3352650"/>
            <a:ext cx="3200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06" name="Google Shape;206;g311fd835375_0_498"/>
          <p:cNvGrpSpPr/>
          <p:nvPr/>
        </p:nvGrpSpPr>
        <p:grpSpPr>
          <a:xfrm>
            <a:off x="75" y="202996"/>
            <a:ext cx="1910317" cy="709685"/>
            <a:chOff x="2267504" y="2540250"/>
            <a:chExt cx="1990951" cy="739640"/>
          </a:xfrm>
        </p:grpSpPr>
        <p:sp>
          <p:nvSpPr>
            <p:cNvPr id="207" name="Google Shape;207;g311fd835375_0_498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11fd835375_0_498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g311fd835375_0_498"/>
          <p:cNvGrpSpPr/>
          <p:nvPr/>
        </p:nvGrpSpPr>
        <p:grpSpPr>
          <a:xfrm>
            <a:off x="4109417" y="5539799"/>
            <a:ext cx="975146" cy="975148"/>
            <a:chOff x="5829300" y="3162300"/>
            <a:chExt cx="532256" cy="532257"/>
          </a:xfrm>
        </p:grpSpPr>
        <p:sp>
          <p:nvSpPr>
            <p:cNvPr id="212" name="Google Shape;212;g311fd835375_0_498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11fd835375_0_498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11fd835375_0_498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11fd835375_0_498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11fd835375_0_498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11fd835375_0_498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11fd835375_0_498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11fd835375_0_498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11fd835375_0_498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11fd835375_0_498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11fd835375_0_498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11fd835375_0_498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11fd835375_0_498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g311fd835375_0_498"/>
          <p:cNvGrpSpPr/>
          <p:nvPr/>
        </p:nvGrpSpPr>
        <p:grpSpPr>
          <a:xfrm>
            <a:off x="5410645" y="488575"/>
            <a:ext cx="6448735" cy="5856740"/>
            <a:chOff x="-73494" y="11035"/>
            <a:chExt cx="6448735" cy="5856740"/>
          </a:xfrm>
        </p:grpSpPr>
        <p:sp>
          <p:nvSpPr>
            <p:cNvPr id="226" name="Google Shape;226;g311fd835375_0_498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11fd835375_0_498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11fd835375_0_498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11fd835375_0_498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11fd835375_0_498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11fd835375_0_498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11fd835375_0_498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11fd835375_0_498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Thursdays: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11AM – 12PM  &amp; 2PM – 3PM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Friday: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3PM – 4PM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12PM – 1PM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11fd835375_0_498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11fd835375_0_498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11fd835375_0_498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11fd835375_0_498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11fd835375_0_498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11fd835375_0_498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11fd835375_0_498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11fd835375_0_498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2" name="Google Shape;242;g311fd835375_0_4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9369" y="4658900"/>
            <a:ext cx="1461966" cy="144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11fd835375_0_4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401" y="1054263"/>
            <a:ext cx="2171899" cy="217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11fd835375_0_498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11fd835375_0_4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2024-09-23T23:44:58Z</dcterms:created>
  <dc:creator>Amilcar Pena</dc:creator>
</cp:coreProperties>
</file>