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q93kI+Nt95JqHpAfzXOwOu0ZV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5b2b5e3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d5b2b5e3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20c48a28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220c48a28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20c48a28f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220c48a28f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20c48a28f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220c48a28f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20c48a28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220c48a28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20c48a28f_1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220c48a28f_1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20def728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220def728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5b2b5e3c8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2d5b2b5e3c8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1fd835375_0_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11fd835375_0_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11fd835375_0_4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11fd835375_0_8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11fd835375_0_8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11fd835375_0_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11fd835375_0_1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" name="Google Shape;19;g311fd835375_0_1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0" name="Google Shape;20;g311fd835375_0_1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11fd835375_0_1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311fd835375_0_1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11fd835375_0_9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g311fd835375_0_9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11fd835375_0_9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g311fd835375_0_9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" name="Google Shape;29;g311fd835375_0_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11fd835375_0_10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" name="Google Shape;32;g311fd835375_0_10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g311fd835375_0_10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g311fd835375_0_1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11fd835375_0_10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7" name="Google Shape;37;g311fd835375_0_1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11fd835375_0_10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0" name="Google Shape;40;g311fd835375_0_10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g311fd835375_0_1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11fd835375_0_11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4" name="Google Shape;44;g311fd835375_0_1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1fd835375_0_1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11fd835375_0_1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8" name="Google Shape;48;g311fd835375_0_1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" name="Google Shape;49;g311fd835375_0_1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0" name="Google Shape;50;g311fd835375_0_1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1fd835375_0_12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3" name="Google Shape;53;g311fd835375_0_1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1fd835375_0_12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6" name="Google Shape;56;g311fd835375_0_12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7" name="Google Shape;57;g311fd835375_0_1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1fd835375_0_1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1fd835375_0_59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11fd835375_0_59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11fd835375_0_5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1fd835375_0_5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11fd835375_0_5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11fd835375_0_5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11fd835375_0_5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11fd835375_0_5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1fd835375_0_55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11fd835375_0_55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9" name="Google Shape;79;g311fd835375_0_5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11fd835375_0_5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11fd835375_0_5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1fd835375_0_56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11fd835375_0_563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5" name="Google Shape;85;g311fd835375_0_5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11fd835375_0_5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11fd835375_0_5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1fd835375_0_5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11fd835375_0_56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11fd835375_0_56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11fd835375_0_5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11fd835375_0_5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11fd835375_0_5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1fd835375_0_57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11fd835375_0_57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8" name="Google Shape;98;g311fd835375_0_57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11fd835375_0_57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g311fd835375_0_57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g311fd835375_0_5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11fd835375_0_5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11fd835375_0_5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1fd835375_0_5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11fd835375_0_58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11fd835375_0_58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11fd835375_0_5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1fd835375_0_59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11fd835375_0_594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g311fd835375_0_594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g311fd835375_0_59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11fd835375_0_59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11fd835375_0_59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1fd835375_0_60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11fd835375_0_60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g311fd835375_0_60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" name="Google Shape;120;g311fd835375_0_6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11fd835375_0_6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11fd835375_0_6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1fd835375_0_60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11fd835375_0_608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g311fd835375_0_60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11fd835375_0_60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11fd835375_0_6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1fd835375_0_61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11fd835375_0_61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g311fd835375_0_6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11fd835375_0_6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11fd835375_0_6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11fd835375_0_8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11fd835375_0_8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11fd835375_0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1fd835375_0_5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11fd835375_0_5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11fd835375_0_5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11fd835375_0_5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11fd835375_0_5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5b2b5e3c8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d5b2b5e3c8_0_0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2d5b2b5e3c8_0_0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2d5b2b5e3c8_0_0"/>
          <p:cNvSpPr txBox="1"/>
          <p:nvPr>
            <p:ph type="ctrTitle"/>
          </p:nvPr>
        </p:nvSpPr>
        <p:spPr>
          <a:xfrm>
            <a:off x="477981" y="1122363"/>
            <a:ext cx="4023300" cy="32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700"/>
              <a:t>Data Handling</a:t>
            </a:r>
            <a:endParaRPr sz="6800"/>
          </a:p>
        </p:txBody>
      </p:sp>
      <p:sp>
        <p:nvSpPr>
          <p:cNvPr id="143" name="Google Shape;143;g2d5b2b5e3c8_0_0"/>
          <p:cNvSpPr/>
          <p:nvPr/>
        </p:nvSpPr>
        <p:spPr>
          <a:xfrm>
            <a:off x="481029" y="4546920"/>
            <a:ext cx="4023300" cy="183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d5b2b5e3c8_0_0"/>
          <p:cNvSpPr txBox="1"/>
          <p:nvPr/>
        </p:nvSpPr>
        <p:spPr>
          <a:xfrm>
            <a:off x="987333" y="6257233"/>
            <a:ext cx="3122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d5b2b5e3c8_0_0"/>
          <p:cNvSpPr txBox="1"/>
          <p:nvPr/>
        </p:nvSpPr>
        <p:spPr>
          <a:xfrm>
            <a:off x="380333" y="5155533"/>
            <a:ext cx="2070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-US" sz="5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2d5b2b5e3c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133" y="6149367"/>
            <a:ext cx="489600" cy="489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7" name="Google Shape;147;g2d5b2b5e3c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7332" y="4687900"/>
            <a:ext cx="1461966" cy="1446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d5b2b5e3c8_0_0"/>
          <p:cNvSpPr/>
          <p:nvPr/>
        </p:nvSpPr>
        <p:spPr>
          <a:xfrm>
            <a:off x="5390033" y="0"/>
            <a:ext cx="7233300" cy="6858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d5b2b5e3c8_0_0"/>
          <p:cNvSpPr/>
          <p:nvPr/>
        </p:nvSpPr>
        <p:spPr>
          <a:xfrm rot="10800000">
            <a:off x="4059000" y="0"/>
            <a:ext cx="3346600" cy="6858000"/>
          </a:xfrm>
          <a:prstGeom prst="flowChartOnlineStorag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2d5b2b5e3c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5767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20c48a28f_0_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220c48a28f_0_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Data Collection</a:t>
            </a:r>
            <a:endParaRPr sz="4700"/>
          </a:p>
        </p:txBody>
      </p:sp>
      <p:sp>
        <p:nvSpPr>
          <p:cNvPr id="157" name="Google Shape;157;g3220c48a28f_0_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220c48a28f_0_0"/>
          <p:cNvSpPr txBox="1"/>
          <p:nvPr>
            <p:ph idx="1" type="body"/>
          </p:nvPr>
        </p:nvSpPr>
        <p:spPr>
          <a:xfrm>
            <a:off x="572500" y="2016050"/>
            <a:ext cx="5018700" cy="4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process of gathering and acquiring data from various sources to serve as the foundation for analysis, modeling, and decision-making.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often the first step in the data science workflow.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/>
              <a:t>What is a Dataset?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 a collection of information containing features and instances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/>
              <a:t>Instances</a:t>
            </a:r>
            <a:r>
              <a:rPr lang="en-US" sz="1600"/>
              <a:t> - an individual data or observational units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often represented as the rows of a data table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/>
              <a:t>Features</a:t>
            </a:r>
            <a:r>
              <a:rPr lang="en-US" sz="1600"/>
              <a:t> - variable, characteristic that is measured or observed on an instance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often represented as the columns of a data table</a:t>
            </a:r>
            <a:endParaRPr sz="1600"/>
          </a:p>
        </p:txBody>
      </p:sp>
      <p:pic>
        <p:nvPicPr>
          <p:cNvPr id="159" name="Google Shape;159;g3220c48a28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220c48a28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1200" y="1980875"/>
            <a:ext cx="3363703" cy="28410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61" name="Google Shape;161;g3220c48a28f_0_0"/>
          <p:cNvPicPr preferRelativeResize="0"/>
          <p:nvPr/>
        </p:nvPicPr>
        <p:blipFill rotWithShape="1">
          <a:blip r:embed="rId5">
            <a:alphaModFix/>
          </a:blip>
          <a:srcRect b="0" l="0" r="74421" t="0"/>
          <a:stretch/>
        </p:blipFill>
        <p:spPr>
          <a:xfrm>
            <a:off x="5860800" y="5130000"/>
            <a:ext cx="5684500" cy="1041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20c48a28f_0_86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220c48a28f_0_86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Data Collection cont.</a:t>
            </a:r>
            <a:endParaRPr sz="3600"/>
          </a:p>
        </p:txBody>
      </p:sp>
      <p:sp>
        <p:nvSpPr>
          <p:cNvPr id="168" name="Google Shape;168;g3220c48a28f_0_8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220c48a28f_0_86"/>
          <p:cNvSpPr txBox="1"/>
          <p:nvPr>
            <p:ph idx="1" type="body"/>
          </p:nvPr>
        </p:nvSpPr>
        <p:spPr>
          <a:xfrm>
            <a:off x="572500" y="2016050"/>
            <a:ext cx="10972800" cy="4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00"/>
              <a:t>Types of Data: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/>
              <a:t>Structured Data:</a:t>
            </a:r>
            <a:r>
              <a:rPr lang="en-US" sz="1600"/>
              <a:t> typically numerical data or quantitative data, and organized in a table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easy to understand by machine learning algorithms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Example: Customer details (name, age, purchase history).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/>
              <a:t>Unstructured Data:</a:t>
            </a:r>
            <a:r>
              <a:rPr lang="en-US" sz="1600"/>
              <a:t> abstract data or qualitative data, and may or not be organized in a table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cannot be processed and analyzed through conventional data tools and methods.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Example: text, images, videos, or audio files.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/>
              <a:t>Semi-structured Data:</a:t>
            </a:r>
            <a:r>
              <a:rPr lang="en-US" sz="1600"/>
              <a:t> not purely structured, but also not completely unstructured.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meaning not being organized in a table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architecturally contains some level of organization or structure, but does not conform to a rigid schema or data model, and may contain elements that are not easily categorized or classified.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Example: JSON, XML files, or log data.</a:t>
            </a:r>
            <a:endParaRPr sz="1600"/>
          </a:p>
        </p:txBody>
      </p:sp>
      <p:pic>
        <p:nvPicPr>
          <p:cNvPr id="170" name="Google Shape;170;g3220c48a28f_0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20c48a28f_0_169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220c48a28f_0_169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cont.</a:t>
            </a:r>
            <a:endParaRPr sz="3600"/>
          </a:p>
        </p:txBody>
      </p:sp>
      <p:sp>
        <p:nvSpPr>
          <p:cNvPr id="177" name="Google Shape;177;g3220c48a28f_0_169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220c48a28f_0_169"/>
          <p:cNvSpPr txBox="1"/>
          <p:nvPr>
            <p:ph idx="1" type="body"/>
          </p:nvPr>
        </p:nvSpPr>
        <p:spPr>
          <a:xfrm>
            <a:off x="572500" y="2016050"/>
            <a:ext cx="10972800" cy="4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00"/>
              <a:t>Types of Data Values: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/>
              <a:t>Numerical Values: </a:t>
            </a:r>
            <a:r>
              <a:rPr lang="en-US" sz="1600"/>
              <a:t>values having mathematical meaning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numbers and vectors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Example: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height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weight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/>
              <a:t>Categorical Feature: </a:t>
            </a:r>
            <a:r>
              <a:rPr lang="en-US" sz="1600"/>
              <a:t>non-numerical values or numerical values without mathematical meaning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Example: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yes/no OR 1/0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address</a:t>
            </a:r>
            <a:endParaRPr sz="1600"/>
          </a:p>
        </p:txBody>
      </p:sp>
      <p:pic>
        <p:nvPicPr>
          <p:cNvPr id="179" name="Google Shape;179;g3220c48a28f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20c48a28f_1_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220c48a28f_1_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Data for Machine Learning</a:t>
            </a:r>
            <a:endParaRPr sz="3600"/>
          </a:p>
        </p:txBody>
      </p:sp>
      <p:sp>
        <p:nvSpPr>
          <p:cNvPr id="186" name="Google Shape;186;g3220c48a28f_1_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220c48a28f_1_0"/>
          <p:cNvSpPr txBox="1"/>
          <p:nvPr>
            <p:ph idx="1" type="body"/>
          </p:nvPr>
        </p:nvSpPr>
        <p:spPr>
          <a:xfrm>
            <a:off x="572500" y="2016050"/>
            <a:ext cx="3167100" cy="4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1900"/>
              <a:t>Types of Machine Learning Models: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1600"/>
              <a:t>Supervised Learning: </a:t>
            </a:r>
            <a:r>
              <a:rPr lang="en-US" sz="1600"/>
              <a:t>model is trained on labeled data, meaning the dataset contains both inputs (features) and outputs (labels).</a:t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The goal is for the model to learn the mapping from inputs to outputs so that it can accurately predict the output for new, unseen data.</a:t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supervised learning tasks: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Classification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regression</a:t>
            </a:r>
            <a:endParaRPr sz="1600"/>
          </a:p>
        </p:txBody>
      </p:sp>
      <p:pic>
        <p:nvPicPr>
          <p:cNvPr id="188" name="Google Shape;188;g3220c48a28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220c48a28f_1_0"/>
          <p:cNvPicPr preferRelativeResize="0"/>
          <p:nvPr/>
        </p:nvPicPr>
        <p:blipFill rotWithShape="1">
          <a:blip r:embed="rId4">
            <a:alphaModFix/>
          </a:blip>
          <a:srcRect b="0" l="46856" r="0" t="0"/>
          <a:stretch/>
        </p:blipFill>
        <p:spPr>
          <a:xfrm>
            <a:off x="7635899" y="2015925"/>
            <a:ext cx="3909402" cy="31320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90" name="Google Shape;190;g3220c48a28f_1_0"/>
          <p:cNvPicPr preferRelativeResize="0"/>
          <p:nvPr/>
        </p:nvPicPr>
        <p:blipFill rotWithShape="1">
          <a:blip r:embed="rId4">
            <a:alphaModFix/>
          </a:blip>
          <a:srcRect b="0" l="0" r="52876" t="0"/>
          <a:stretch/>
        </p:blipFill>
        <p:spPr>
          <a:xfrm>
            <a:off x="3739600" y="3167125"/>
            <a:ext cx="3794853" cy="34287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20c48a28f_1_85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220c48a28f_1_85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cont.</a:t>
            </a:r>
            <a:endParaRPr sz="3600"/>
          </a:p>
        </p:txBody>
      </p:sp>
      <p:sp>
        <p:nvSpPr>
          <p:cNvPr id="197" name="Google Shape;197;g3220c48a28f_1_85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220c48a28f_1_85"/>
          <p:cNvSpPr txBox="1"/>
          <p:nvPr>
            <p:ph idx="1" type="body"/>
          </p:nvPr>
        </p:nvSpPr>
        <p:spPr>
          <a:xfrm>
            <a:off x="572500" y="2015925"/>
            <a:ext cx="109728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1600"/>
              <a:t>Unsupervised Learning: </a:t>
            </a:r>
            <a:r>
              <a:rPr lang="en-US" sz="1600"/>
              <a:t>model is trained on data without labeled outputs, meaning the dataset contains only input features (no output labels).</a:t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The goal is to uncover hidden patterns, structures, or relationships in the data.</a:t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unsupervised learning tasks: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Clustering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Dimensionality Reduction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Association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outlier detection detection</a:t>
            </a:r>
            <a:endParaRPr sz="1600"/>
          </a:p>
        </p:txBody>
      </p:sp>
      <p:pic>
        <p:nvPicPr>
          <p:cNvPr id="199" name="Google Shape;199;g3220c48a28f_1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220c48a28f_1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88" y="4262313"/>
            <a:ext cx="528637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20def728c_0_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220def728c_0_0"/>
          <p:cNvSpPr txBox="1"/>
          <p:nvPr>
            <p:ph type="title"/>
          </p:nvPr>
        </p:nvSpPr>
        <p:spPr>
          <a:xfrm>
            <a:off x="572500" y="265525"/>
            <a:ext cx="113613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Preprocessing for Machine Learning</a:t>
            </a:r>
            <a:endParaRPr sz="3600"/>
          </a:p>
        </p:txBody>
      </p:sp>
      <p:sp>
        <p:nvSpPr>
          <p:cNvPr id="207" name="Google Shape;207;g3220def728c_0_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220def728c_0_0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1900"/>
              <a:t>Train-Validation-Test split: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600"/>
              <a:t>model training on an entire set of sample data carries the risk of overfitting the sample data, leading to poor performance when predicting beyond the sample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600"/>
              <a:t>sample data is often split into three subsets: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Training data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validation data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Test data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1900"/>
              <a:t>Determining the data split ratio</a:t>
            </a:r>
            <a:endParaRPr b="1" sz="19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Typically you want more training data than validation and testing data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60% - 90% training data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equal split between validation and testing data</a:t>
            </a:r>
            <a:endParaRPr sz="1600"/>
          </a:p>
        </p:txBody>
      </p:sp>
      <p:pic>
        <p:nvPicPr>
          <p:cNvPr id="209" name="Google Shape;209;g3220def728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5b2b5e3c8_0_148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d5b2b5e3c8_0_148"/>
          <p:cNvSpPr txBox="1"/>
          <p:nvPr>
            <p:ph idx="4294967295" type="title"/>
          </p:nvPr>
        </p:nvSpPr>
        <p:spPr>
          <a:xfrm>
            <a:off x="4024800" y="2567800"/>
            <a:ext cx="41424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Q&amp;A Session</a:t>
            </a:r>
            <a:endParaRPr/>
          </a:p>
        </p:txBody>
      </p:sp>
      <p:pic>
        <p:nvPicPr>
          <p:cNvPr id="216" name="Google Shape;216;g2d5b2b5e3c8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1fd835375_0_4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11fd835375_0_498"/>
          <p:cNvSpPr/>
          <p:nvPr/>
        </p:nvSpPr>
        <p:spPr>
          <a:xfrm>
            <a:off x="0" y="0"/>
            <a:ext cx="4890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11fd835375_0_498"/>
          <p:cNvSpPr txBox="1"/>
          <p:nvPr>
            <p:ph type="title"/>
          </p:nvPr>
        </p:nvSpPr>
        <p:spPr>
          <a:xfrm>
            <a:off x="840150" y="3367775"/>
            <a:ext cx="32004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25" name="Google Shape;225;g311fd835375_0_498"/>
          <p:cNvGrpSpPr/>
          <p:nvPr/>
        </p:nvGrpSpPr>
        <p:grpSpPr>
          <a:xfrm>
            <a:off x="75" y="202996"/>
            <a:ext cx="1910317" cy="709685"/>
            <a:chOff x="2267504" y="2540250"/>
            <a:chExt cx="1990951" cy="739640"/>
          </a:xfrm>
        </p:grpSpPr>
        <p:sp>
          <p:nvSpPr>
            <p:cNvPr id="226" name="Google Shape;226;g311fd835375_0_498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11fd835375_0_498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311fd835375_0_498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11fd835375_0_498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g311fd835375_0_498"/>
          <p:cNvGrpSpPr/>
          <p:nvPr/>
        </p:nvGrpSpPr>
        <p:grpSpPr>
          <a:xfrm>
            <a:off x="4109417" y="5539799"/>
            <a:ext cx="975146" cy="975148"/>
            <a:chOff x="5829300" y="3162300"/>
            <a:chExt cx="532256" cy="532257"/>
          </a:xfrm>
        </p:grpSpPr>
        <p:sp>
          <p:nvSpPr>
            <p:cNvPr id="231" name="Google Shape;231;g311fd835375_0_498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11fd835375_0_498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11fd835375_0_498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11fd835375_0_498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11fd835375_0_498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11fd835375_0_498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11fd835375_0_498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11fd835375_0_498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11fd835375_0_498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11fd835375_0_498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11fd835375_0_498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11fd835375_0_498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11fd835375_0_498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g311fd835375_0_498"/>
          <p:cNvGrpSpPr/>
          <p:nvPr/>
        </p:nvGrpSpPr>
        <p:grpSpPr>
          <a:xfrm>
            <a:off x="5410645" y="488575"/>
            <a:ext cx="6448735" cy="5856740"/>
            <a:chOff x="-73494" y="11035"/>
            <a:chExt cx="6448735" cy="5856740"/>
          </a:xfrm>
        </p:grpSpPr>
        <p:sp>
          <p:nvSpPr>
            <p:cNvPr id="245" name="Google Shape;245;g311fd835375_0_498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11fd835375_0_498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11fd835375_0_498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11fd835375_0_498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11fd835375_0_498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11fd835375_0_498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11fd835375_0_498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11fd835375_0_498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Thursdays: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11AM – 12PM  &amp; 2PM – 3PM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Friday: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3PM – 4PM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Monday: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12PM – 1PM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11fd835375_0_498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11fd835375_0_498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11fd835375_0_498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11fd835375_0_498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11fd835375_0_498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11fd835375_0_498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11fd835375_0_498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11fd835375_0_498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1" name="Google Shape;261;g311fd835375_0_4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9369" y="4633800"/>
            <a:ext cx="1461966" cy="144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11fd835375_0_4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9351" y="1084525"/>
            <a:ext cx="2171899" cy="217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11fd835375_0_498"/>
          <p:cNvSpPr txBox="1"/>
          <p:nvPr/>
        </p:nvSpPr>
        <p:spPr>
          <a:xfrm>
            <a:off x="987333" y="6257233"/>
            <a:ext cx="3122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11fd835375_0_4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1133" y="6149367"/>
            <a:ext cx="489600" cy="48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2024-09-23T23:44:58Z</dcterms:created>
  <dc:creator>Amilcar Pena</dc:creator>
</cp:coreProperties>
</file>